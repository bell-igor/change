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D1941"/>
                </a:solidFill>
                <a:latin typeface="Segoe UI"/>
              </a:rPr>
              <a:t>МЕРЧ-ЛИНЕЙКА · КОНЦЕПЦИЯ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2141A"/>
                </a:solidFill>
                <a:latin typeface="Segoe UI"/>
              </a:rPr>
              <a:t>Мерч, который носят, а не выбрасывают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B5160"/>
                </a:solidFill>
                <a:latin typeface="Segoe UI"/>
              </a:rPr>
              <a:t>База — паттерн и пиктограммы брендбука, красный #ED1941. Всё уходит на согласование бренд-отдела (условие кейса).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265176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pattern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14600"/>
            <a:ext cx="2286000" cy="141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40416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ED1941"/>
                </a:solidFill>
                <a:latin typeface="Segoe UI"/>
              </a:rPr>
              <a:t>ОЧАКОВО · СМЕНА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8006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2141A"/>
                </a:solidFill>
                <a:latin typeface="Segoe UI"/>
              </a:rPr>
              <a:t>Шоппер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749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A8F9C"/>
                </a:solidFill>
                <a:latin typeface="Segoe UI"/>
              </a:rPr>
              <a:t>паттерн + логотип, 100% хлопок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286000"/>
            <a:ext cx="265176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0" y="2743200"/>
            <a:ext cx="1143000" cy="1143000"/>
          </a:xfrm>
          <a:prstGeom prst="roundRect">
            <a:avLst>
              <a:gd name="adj" fmla="val 12000"/>
            </a:avLst>
          </a:prstGeom>
          <a:solidFill>
            <a:srgbClr val="ED19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0" y="2971800"/>
            <a:ext cx="384048" cy="685800"/>
          </a:xfrm>
          <a:prstGeom prst="roundRect">
            <a:avLst>
              <a:gd name="adj" fmla="val 50000"/>
            </a:avLst>
          </a:prstGeom>
          <a:noFill/>
          <a:ln w="88900">
            <a:solidFill>
              <a:srgbClr val="ED19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315468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СМЕНА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8006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2141A"/>
                </a:solidFill>
                <a:latin typeface="Segoe UI"/>
              </a:rPr>
              <a:t>Кружка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0749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A8F9C"/>
                </a:solidFill>
                <a:latin typeface="Segoe UI"/>
              </a:rPr>
              <a:t>для перерывов между сменами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286000"/>
            <a:ext cx="265176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20840" y="2560320"/>
            <a:ext cx="640080" cy="640080"/>
          </a:xfrm>
          <a:prstGeom prst="ellipse">
            <a:avLst/>
          </a:prstGeom>
          <a:solidFill>
            <a:srgbClr val="F5F3EF"/>
          </a:solidFill>
          <a:ln w="9525">
            <a:solidFill>
              <a:srgbClr val="E6E5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72491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ED1941"/>
                </a:solidFill>
                <a:latin typeface="Segoe UI"/>
              </a:rPr>
              <a:t>⚙</a:t>
            </a:r>
          </a:p>
        </p:txBody>
      </p:sp>
      <p:sp>
        <p:nvSpPr>
          <p:cNvPr id="20" name="Oval 19"/>
          <p:cNvSpPr/>
          <p:nvPr/>
        </p:nvSpPr>
        <p:spPr>
          <a:xfrm>
            <a:off x="7498079" y="2560320"/>
            <a:ext cx="640080" cy="640080"/>
          </a:xfrm>
          <a:prstGeom prst="ellipse">
            <a:avLst/>
          </a:prstGeom>
          <a:solidFill>
            <a:srgbClr val="F5F3EF"/>
          </a:solidFill>
          <a:ln w="9525">
            <a:solidFill>
              <a:srgbClr val="E6E5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272491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ED1941"/>
                </a:solidFill>
                <a:latin typeface="Segoe UI"/>
              </a:rPr>
              <a:t>🧪</a:t>
            </a:r>
          </a:p>
        </p:txBody>
      </p:sp>
      <p:sp>
        <p:nvSpPr>
          <p:cNvPr id="22" name="Oval 21"/>
          <p:cNvSpPr/>
          <p:nvPr/>
        </p:nvSpPr>
        <p:spPr>
          <a:xfrm>
            <a:off x="8275319" y="2560320"/>
            <a:ext cx="640080" cy="640080"/>
          </a:xfrm>
          <a:prstGeom prst="ellipse">
            <a:avLst/>
          </a:prstGeom>
          <a:solidFill>
            <a:srgbClr val="F5F3EF"/>
          </a:solidFill>
          <a:ln w="9525">
            <a:solidFill>
              <a:srgbClr val="E6E5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272491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ED1941"/>
                </a:solidFill>
                <a:latin typeface="Segoe UI"/>
              </a:rPr>
              <a:t>📦</a:t>
            </a:r>
          </a:p>
        </p:txBody>
      </p:sp>
      <p:sp>
        <p:nvSpPr>
          <p:cNvPr id="24" name="Oval 23"/>
          <p:cNvSpPr/>
          <p:nvPr/>
        </p:nvSpPr>
        <p:spPr>
          <a:xfrm>
            <a:off x="6720840" y="3429000"/>
            <a:ext cx="640080" cy="640080"/>
          </a:xfrm>
          <a:prstGeom prst="ellipse">
            <a:avLst/>
          </a:prstGeom>
          <a:solidFill>
            <a:srgbClr val="F5F3EF"/>
          </a:solidFill>
          <a:ln w="9525">
            <a:solidFill>
              <a:srgbClr val="E6E5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59359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ED1941"/>
                </a:solidFill>
                <a:latin typeface="Segoe UI"/>
              </a:rPr>
              <a:t>🥤</a:t>
            </a:r>
          </a:p>
        </p:txBody>
      </p:sp>
      <p:sp>
        <p:nvSpPr>
          <p:cNvPr id="26" name="Oval 25"/>
          <p:cNvSpPr/>
          <p:nvPr/>
        </p:nvSpPr>
        <p:spPr>
          <a:xfrm>
            <a:off x="7498079" y="3429000"/>
            <a:ext cx="640080" cy="640080"/>
          </a:xfrm>
          <a:prstGeom prst="ellipse">
            <a:avLst/>
          </a:prstGeom>
          <a:solidFill>
            <a:srgbClr val="F5F3EF"/>
          </a:solidFill>
          <a:ln w="9525">
            <a:solidFill>
              <a:srgbClr val="E6E5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359359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ED1941"/>
                </a:solidFill>
                <a:latin typeface="Segoe UI"/>
              </a:rPr>
              <a:t>🌾</a:t>
            </a:r>
          </a:p>
        </p:txBody>
      </p:sp>
      <p:sp>
        <p:nvSpPr>
          <p:cNvPr id="28" name="Oval 27"/>
          <p:cNvSpPr/>
          <p:nvPr/>
        </p:nvSpPr>
        <p:spPr>
          <a:xfrm>
            <a:off x="8275319" y="3429000"/>
            <a:ext cx="640080" cy="640080"/>
          </a:xfrm>
          <a:prstGeom prst="ellipse">
            <a:avLst/>
          </a:prstGeom>
          <a:solidFill>
            <a:srgbClr val="F5F3EF"/>
          </a:solidFill>
          <a:ln w="9525">
            <a:solidFill>
              <a:srgbClr val="E6E5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19" y="359359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ED1941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8006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2141A"/>
                </a:solidFill>
                <a:latin typeface="Segoe UI"/>
              </a:rPr>
              <a:t>Стикерпак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0749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A8F9C"/>
                </a:solidFill>
                <a:latin typeface="Segoe UI"/>
              </a:rPr>
              <a:t>пиктограммы брендбука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2286000"/>
            <a:ext cx="219456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12680" y="2606040"/>
            <a:ext cx="822960" cy="822960"/>
          </a:xfrm>
          <a:prstGeom prst="ellipse">
            <a:avLst/>
          </a:prstGeom>
          <a:solidFill>
            <a:srgbClr val="ED19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12680" y="28346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18+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8006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2141A"/>
                </a:solidFill>
                <a:latin typeface="Segoe UI"/>
              </a:rPr>
              <a:t>Значок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50749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A8F9C"/>
                </a:solidFill>
                <a:latin typeface="Segoe UI"/>
              </a:rPr>
              <a:t>ранг смены на ленте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806440"/>
            <a:ext cx="10835640" cy="640080"/>
          </a:xfrm>
          <a:prstGeom prst="roundRect">
            <a:avLst>
              <a:gd name="adj" fmla="val 15000"/>
            </a:avLst>
          </a:prstGeom>
          <a:solidFill>
            <a:srgbClr val="1214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98932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Правило: мерч получают только те, кто дошёл до финала игры. Это не сувенир, а статус — и повод дойти.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D1941"/>
                </a:solidFill>
                <a:latin typeface="Segoe UI"/>
              </a:rPr>
              <a:t>ВИДЕОРОЛИК · 30 СЕКУНД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2141A"/>
                </a:solidFill>
                <a:latin typeface="Segoe UI"/>
              </a:rPr>
              <a:t>Раскадровка: «Одна смена — один вкус»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17904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B5160"/>
                </a:solidFill>
                <a:latin typeface="Segoe UI"/>
              </a:rPr>
              <a:t>Съёмка из готовых материалов кейса: химик-лаборант, оператор линии розлива, машинист оборудования, создание нового вкуса.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4747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3055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D1941"/>
                </a:solidFill>
                <a:latin typeface="Segoe UI"/>
              </a:rPr>
              <a:t>00:00–00:03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2141A"/>
                </a:solidFill>
                <a:latin typeface="Segoe UI"/>
              </a:rPr>
              <a:t>Цех, вода на стекле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B5160"/>
                </a:solidFill>
                <a:latin typeface="Segoe UI"/>
              </a:rPr>
              <a:t>Крупно: бутылка выходит из аппарата. Звук линии.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8328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47472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12141A"/>
                </a:solidFill>
                <a:latin typeface="Segoe UI"/>
              </a:rPr>
              <a:t>«Твой первый вкус начинается здесь»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965960"/>
            <a:ext cx="34747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13055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D1941"/>
                </a:solidFill>
                <a:latin typeface="Segoe UI"/>
              </a:rPr>
              <a:t>00:03–00:09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77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2141A"/>
                </a:solidFill>
                <a:latin typeface="Segoe UI"/>
              </a:rPr>
              <a:t>Люди, а не машины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6974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B5160"/>
                </a:solidFill>
                <a:latin typeface="Segoe UI"/>
              </a:rPr>
              <a:t>Химик-лаборант берёт пробу, улыбается коллеге.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9432" y="338328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347472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12141A"/>
                </a:solidFill>
                <a:latin typeface="Segoe UI"/>
              </a:rPr>
              <a:t>«Здесь не просто работают — здесь пробуют»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965960"/>
            <a:ext cx="34747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213055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D1941"/>
                </a:solidFill>
                <a:latin typeface="Segoe UI"/>
              </a:rPr>
              <a:t>00:09–00:15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377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2141A"/>
                </a:solidFill>
                <a:latin typeface="Segoe UI"/>
              </a:rPr>
              <a:t>Смена оператора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6974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B5160"/>
                </a:solidFill>
                <a:latin typeface="Segoe UI"/>
              </a:rPr>
              <a:t>Оператор на линии, пульт, этикетка пошла.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4464" y="338328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347472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12141A"/>
                </a:solidFill>
                <a:latin typeface="Segoe UI"/>
              </a:rPr>
              <a:t>«Смена — это 12 часов, за которые ты видишь результат»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251960"/>
            <a:ext cx="34747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1655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D1941"/>
                </a:solidFill>
                <a:latin typeface="Segoe UI"/>
              </a:rPr>
              <a:t>00:15–00:21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63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2141A"/>
                </a:solidFill>
                <a:latin typeface="Segoe UI"/>
              </a:rPr>
              <a:t>Смена инженера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834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B5160"/>
                </a:solidFill>
                <a:latin typeface="Segoe UI"/>
              </a:rPr>
              <a:t>Машинист и наладчик у оборудования, жест «готово».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66928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1" y="576072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12141A"/>
                </a:solidFill>
                <a:latin typeface="Segoe UI"/>
              </a:rPr>
              <a:t>«Ошибка стоит партии. Опыт стоит больше»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4251960"/>
            <a:ext cx="34747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2" y="441655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D1941"/>
                </a:solidFill>
                <a:latin typeface="Segoe UI"/>
              </a:rPr>
              <a:t>00:21–00:26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663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2141A"/>
                </a:solidFill>
                <a:latin typeface="Segoe UI"/>
              </a:rPr>
              <a:t>Лаборатория вкуса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2" y="49834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B5160"/>
                </a:solidFill>
                <a:latin typeface="Segoe UI"/>
              </a:rPr>
              <a:t>Пробники, стаканы, технолог записывает рецепт.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99432" y="566928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18304" y="576072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12141A"/>
                </a:solidFill>
                <a:latin typeface="Segoe UI"/>
              </a:rPr>
              <a:t>«Новый вкус рождается за 40 проб»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5864" y="4251960"/>
            <a:ext cx="347472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5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4464" y="441655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D1941"/>
                </a:solidFill>
                <a:latin typeface="Segoe UI"/>
              </a:rPr>
              <a:t>00:26–00:30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4663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2141A"/>
                </a:solidFill>
                <a:latin typeface="Segoe UI"/>
              </a:rPr>
              <a:t>Финал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4464" y="49834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4B5160"/>
                </a:solidFill>
                <a:latin typeface="Segoe UI"/>
              </a:rPr>
              <a:t>Команда у линии, логотип, красный фон, QR.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84464" y="566928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5F3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03336" y="576072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12141A"/>
                </a:solidFill>
                <a:latin typeface="Segoe UI"/>
              </a:rPr>
              <a:t>«СМЕНА. Твой первый вкус. 18+»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A8F9C"/>
                </a:solidFill>
                <a:latin typeface="Segoe UI"/>
              </a:rPr>
              <a:t>Формат: 9:16 для VK Клипов и сторис, из него собирается 16:9 для стенда. Музыка — ритм линии, без закадрового текста.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