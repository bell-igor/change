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7772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ХАКАТОН «ОТКРОЙ МОСПРОМ» · КЕЙС «ОЧАКОВО»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1800" b="1" i="0">
                <a:solidFill>
                  <a:srgbClr val="FFFFFF"/>
                </a:solidFill>
                <a:latin typeface="Segoe UI"/>
              </a:rPr>
              <a:t>СМЕНА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6949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Цифровой инструмент, который превращает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интерес к вкусу — в заявку на практику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1772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6 игровых смен  ·  3 карьерных трека  ·  наставник после заявки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мини-апп ВК / веб · работает и на телефоне, и на защите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806440"/>
            <a:ext cx="201168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23–25 октября 2026 · прототип: ochakovo_smena/index.html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760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300" b="1" i="0">
                <a:solidFill>
                  <a:srgbClr val="12141A"/>
                </a:solidFill>
                <a:latin typeface="Segoe UI"/>
              </a:rPr>
              <a:t>«Очаково» знают по вкусу.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300" b="1" i="0">
                <a:solidFill>
                  <a:srgbClr val="12141A"/>
                </a:solidFill>
                <a:latin typeface="Segoe UI"/>
              </a:rPr>
              <a:t>Но не как работодателя.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5577840" cy="3108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0">
                <a:solidFill>
                  <a:srgbClr val="4B5160"/>
                </a:solidFill>
                <a:latin typeface="Segoe UI"/>
              </a:rPr>
              <a:t>бренд живёт в категории «квас и напитки», а не в категории «первый работодатель»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0">
                <a:solidFill>
                  <a:srgbClr val="4B5160"/>
                </a:solidFill>
                <a:latin typeface="Segoe UI"/>
              </a:rPr>
              <a:t>активности — точечные ярмарки и выставки, единой системы продвижения HR-бренда нет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0">
                <a:solidFill>
                  <a:srgbClr val="4B5160"/>
                </a:solidFill>
                <a:latin typeface="Segoe UI"/>
              </a:rPr>
              <a:t>молодёжь 18–26 не видит карьерного пути: цех, лаборатория и склад кажутся «не про меня»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0">
                <a:solidFill>
                  <a:srgbClr val="4B5160"/>
                </a:solidFill>
                <a:latin typeface="Segoe UI"/>
              </a:rPr>
              <a:t>высокий сезон требует кратного роста штата, а очередь кандидатов не сформирована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20840" y="960120"/>
            <a:ext cx="2423160" cy="141732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76872" y="1161288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D1941"/>
                </a:solidFill>
                <a:latin typeface="Segoe UI"/>
              </a:rPr>
              <a:t>0,02%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6872" y="1828800"/>
            <a:ext cx="196596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конверсия в найм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сегодня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81160" y="960120"/>
            <a:ext cx="2423160" cy="141732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37192" y="1161288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D1941"/>
                </a:solidFill>
                <a:latin typeface="Segoe UI"/>
              </a:rPr>
              <a:t>38%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7192" y="1828800"/>
            <a:ext cx="196596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отсев на испытательном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сроке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2514600"/>
            <a:ext cx="2423160" cy="141732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76872" y="2715768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D1941"/>
                </a:solidFill>
                <a:latin typeface="Segoe UI"/>
              </a:rPr>
              <a:t>47 → 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6872" y="3383280"/>
            <a:ext cx="196596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средний возраст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сотрудников за год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514600"/>
            <a:ext cx="2423160" cy="1417320"/>
          </a:xfrm>
          <a:prstGeom prst="roundRect">
            <a:avLst>
              <a:gd name="adj" fmla="val 12000"/>
            </a:avLst>
          </a:prstGeom>
          <a:solidFill>
            <a:srgbClr val="ED194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37192" y="2715768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D1941"/>
                </a:solidFill>
                <a:latin typeface="Segoe UI"/>
              </a:rPr>
              <a:t>0,085%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37192" y="3383280"/>
            <a:ext cx="196596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целевая конверсия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пилота в найм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37192" y="2715768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0,085%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33832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egoe UI"/>
              </a:rPr>
              <a:t>целевая конверсия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egoe UI"/>
              </a:rPr>
              <a:t>пилота в найм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806440"/>
            <a:ext cx="10972800" cy="73152"/>
          </a:xfrm>
          <a:prstGeom prst="rect">
            <a:avLst/>
          </a:prstGeom>
          <a:solidFill>
            <a:srgbClr val="E6E5E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Вывод: нужен не лендинг с вакансиями, а повод пройти путь от «интересно» до заявки — с игрой, фактами и живым наставником.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ИДЕЯ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4400" b="1" i="0">
                <a:solidFill>
                  <a:srgbClr val="12141A"/>
                </a:solidFill>
                <a:latin typeface="Segoe UI"/>
              </a:rPr>
              <a:t>Твой первый вкус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4B5160"/>
                </a:solidFill>
                <a:latin typeface="Segoe UI"/>
              </a:rPr>
              <a:t>Три слоя одного продукта: игра доводит до знакомства с производством, вкус даёт личный результат, наставник снимает страх первого дня.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9748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2880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ED1941"/>
                </a:solidFill>
                <a:latin typeface="Segoe U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310128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2141A"/>
                </a:solidFill>
                <a:latin typeface="Segoe UI"/>
              </a:rPr>
              <a:t>Игра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67328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6 смен по 40–90 секунд: история, линия розлива, лаборатория, квиз. Баллы, прогресс, рейтинг вузов.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269748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27448" y="2880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12141A"/>
                </a:solidFill>
                <a:latin typeface="Segoe UI"/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3310128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2141A"/>
                </a:solidFill>
                <a:latin typeface="Segoe UI"/>
              </a:rPr>
              <a:t>Лаборатория вкуса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3767328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Игрок собирает свой вкус из основы и трёх ингредиентов и получает карточку для соцсетей.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0456" y="2697480"/>
            <a:ext cx="3429000" cy="2377440"/>
          </a:xfrm>
          <a:prstGeom prst="roundRect">
            <a:avLst>
              <a:gd name="adj" fmla="val 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94776" y="2880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2E5EF0"/>
                </a:solidFill>
                <a:latin typeface="Segoe U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4776" y="3310128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2141A"/>
                </a:solidFill>
                <a:latin typeface="Segoe UI"/>
              </a:rPr>
              <a:t>Наставник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3767328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После заявки — чек-лист пре-бординга: документы, общежитие, первый день, телефоны.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492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ПУТЬ КАНДИДАТА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715000"/>
            <a:ext cx="1664208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4813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2141A"/>
                </a:solidFill>
                <a:latin typeface="Segoe UI"/>
              </a:rPr>
              <a:t>QR / пост в чате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32888" y="5715000"/>
            <a:ext cx="1664208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24328" y="5870448"/>
            <a:ext cx="14813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2141A"/>
                </a:solidFill>
                <a:latin typeface="Segoe UI"/>
              </a:rPr>
              <a:t>первая смена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9976" y="5715000"/>
            <a:ext cx="1664208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1416" y="5870448"/>
            <a:ext cx="14813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2141A"/>
                </a:solidFill>
                <a:latin typeface="Segoe UI"/>
              </a:rPr>
              <a:t>свой вкус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7064" y="5715000"/>
            <a:ext cx="1664208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18504" y="5870448"/>
            <a:ext cx="14813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2141A"/>
                </a:solidFill>
                <a:latin typeface="Segoe UI"/>
              </a:rPr>
              <a:t>квиз о компании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5715000"/>
            <a:ext cx="1664208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65592" y="5870448"/>
            <a:ext cx="14813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2141A"/>
                </a:solidFill>
                <a:latin typeface="Segoe UI"/>
              </a:rPr>
              <a:t>заявка 18+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5715000"/>
            <a:ext cx="1664208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12680" y="5870448"/>
            <a:ext cx="14813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2141A"/>
                </a:solidFill>
                <a:latin typeface="Segoe UI"/>
              </a:rPr>
              <a:t>наставник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ПРОДУКТ · ЭКРАН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Три трека —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три входа в компанию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79408" y="612648"/>
            <a:ext cx="2788733" cy="5541264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5" name="Picture 4" descr="s-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685800"/>
            <a:ext cx="2642429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14600"/>
            <a:ext cx="5760720" cy="3291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1">
                <a:solidFill>
                  <a:srgbClr val="12141A"/>
                </a:solidFill>
                <a:latin typeface="Segoe UI"/>
              </a:rPr>
              <a:t>Инженер: </a:t>
            </a:r>
            <a:r>
              <a:rPr sz="1250">
                <a:solidFill>
                  <a:srgbClr val="4B5160"/>
                </a:solidFill>
                <a:latin typeface="Segoe UI"/>
              </a:rPr>
              <a:t>автоматизация, наладка линий, ремонтные мастерские. Старт от 70 000 ₽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1">
                <a:solidFill>
                  <a:srgbClr val="12141A"/>
                </a:solidFill>
                <a:latin typeface="Segoe UI"/>
              </a:rPr>
              <a:t>Технолог / химик-лаборант: </a:t>
            </a:r>
            <a:r>
              <a:rPr sz="1250">
                <a:solidFill>
                  <a:srgbClr val="4B5160"/>
                </a:solidFill>
                <a:latin typeface="Segoe UI"/>
              </a:rPr>
              <a:t>цех варки и лаборатория. От 60 000 ₽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250" b="1">
                <a:solidFill>
                  <a:srgbClr val="ED1941"/>
                </a:solidFill>
                <a:latin typeface="Segoe UI"/>
              </a:rPr>
              <a:t>— </a:t>
            </a:r>
            <a:r>
              <a:rPr sz="1250" b="1">
                <a:solidFill>
                  <a:srgbClr val="12141A"/>
                </a:solidFill>
                <a:latin typeface="Segoe UI"/>
              </a:rPr>
              <a:t>Оператор / склад: </a:t>
            </a:r>
            <a:r>
              <a:rPr sz="1250">
                <a:solidFill>
                  <a:srgbClr val="4B5160"/>
                </a:solidFill>
                <a:latin typeface="Segoe UI"/>
              </a:rPr>
              <a:t>розлив и складской комплекс. От 56 000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5196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4B5160"/>
                </a:solidFill>
                <a:latin typeface="Segoe UI"/>
              </a:rPr>
              <a:t>Игрок сразу видит себя в конкретной профессии, а HR получает заявку с выбранным треком — это и есть сегментация воронки по трём дефицитным блокам.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8F9C"/>
                </a:solidFill>
                <a:latin typeface="Segoe UI"/>
              </a:rPr>
              <a:t>Скриншот прототипа · выбор трека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ПРОДУКТ · МЕХАНИКА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400" b="1" i="0">
                <a:solidFill>
                  <a:srgbClr val="12141A"/>
                </a:solidFill>
                <a:latin typeface="Segoe UI"/>
              </a:rPr>
              <a:t>Вкус, которого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400" b="1" i="0">
                <a:solidFill>
                  <a:srgbClr val="12141A"/>
                </a:solidFill>
                <a:latin typeface="Segoe UI"/>
              </a:rPr>
              <a:t>ещё нет в линейке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4B5160"/>
                </a:solidFill>
                <a:latin typeface="Segoe UI"/>
              </a:rPr>
              <a:t>Игрок становится технологом: выбирает основу и три ингредиента, получает название, профиль вкуса и карточку 1080×1350 для сторис.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594360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ED1941"/>
                </a:solidFill>
                <a:latin typeface="Segoe UI"/>
              </a:rPr>
              <a:t>— </a:t>
            </a:r>
            <a:r>
              <a:rPr sz="1200" b="0">
                <a:solidFill>
                  <a:srgbClr val="4B5160"/>
                </a:solidFill>
                <a:latin typeface="Segoe UI"/>
              </a:rPr>
              <a:t>шеринг-карточка с логотипом и призывом — бесплатный охват в соцсетях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ED1941"/>
                </a:solidFill>
                <a:latin typeface="Segoe UI"/>
              </a:rPr>
              <a:t>— </a:t>
            </a:r>
            <a:r>
              <a:rPr sz="1200" b="0">
                <a:solidFill>
                  <a:srgbClr val="4B5160"/>
                </a:solidFill>
                <a:latin typeface="Segoe UI"/>
              </a:rPr>
              <a:t>механика «вкус твоего вуза» → командный рейтинг и вызов между вузами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ED1941"/>
                </a:solidFill>
                <a:latin typeface="Segoe UI"/>
              </a:rPr>
              <a:t>— </a:t>
            </a:r>
            <a:r>
              <a:rPr sz="1200" b="0">
                <a:solidFill>
                  <a:srgbClr val="4B5160"/>
                </a:solidFill>
                <a:latin typeface="Segoe UI"/>
              </a:rPr>
              <a:t>мостик к продукту: игрок сам объясняет, как рождается новый вкус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Психология: человек делится тем, что создал сам. Карточка работает как UGC-объявление о наборе на практику.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90688" y="429768"/>
            <a:ext cx="2967881" cy="5907024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8" name="Picture 7" descr="s-flav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502920"/>
            <a:ext cx="2821577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ПРОДУКТ · СЛОЙ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400" b="1" i="0">
                <a:solidFill>
                  <a:srgbClr val="12141A"/>
                </a:solidFill>
                <a:latin typeface="Segoe UI"/>
              </a:rPr>
              <a:t>Наставник снижает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400" b="1" i="0">
                <a:solidFill>
                  <a:srgbClr val="12141A"/>
                </a:solidFill>
                <a:latin typeface="Segoe UI"/>
              </a:rPr>
              <a:t>38% отсева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456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4B5160"/>
                </a:solidFill>
                <a:latin typeface="Segoe UI"/>
              </a:rPr>
              <a:t>Самая дешёвая точка роста — не найм, а удержание. После заявки включается пре-бординг: кандидат приходит на первый день подготовленным.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63240"/>
            <a:ext cx="3108960" cy="82296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86968" y="3291840"/>
            <a:ext cx="182880" cy="182880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1F9D5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20" y="32095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Паспорт и СНИЛС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8386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B5160"/>
                </a:solidFill>
                <a:latin typeface="Segoe UI"/>
              </a:rPr>
              <a:t>что взять в первый день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3063240"/>
            <a:ext cx="3108960" cy="82296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224528" y="3291840"/>
            <a:ext cx="182880" cy="182880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1F9D5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26280" y="32095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Договор на практику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48386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B5160"/>
                </a:solidFill>
                <a:latin typeface="Segoe UI"/>
              </a:rPr>
              <a:t>дневник, характеристика, сроки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23360"/>
            <a:ext cx="3108960" cy="82296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86968" y="4251960"/>
            <a:ext cx="182880" cy="182880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1F9D5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4169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Общежитие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44398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B5160"/>
                </a:solidFill>
                <a:latin typeface="Segoe UI"/>
              </a:rPr>
              <a:t>Рябиновая, 44 · 3 400 ₽ для студентов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4023360"/>
            <a:ext cx="3108960" cy="82296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24528" y="4251960"/>
            <a:ext cx="182880" cy="182880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1F9D5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6280" y="4169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Первый день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44398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B5160"/>
                </a:solidFill>
                <a:latin typeface="Segoe UI"/>
              </a:rPr>
              <a:t>пропуск, медосмотр, спецодежда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3108960" cy="82296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86968" y="5212080"/>
            <a:ext cx="182880" cy="182880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1F9D5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88720" y="51297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Быт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0410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B5160"/>
                </a:solidFill>
                <a:latin typeface="Segoe UI"/>
              </a:rPr>
              <a:t>кухня, душ, что взять с собой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4983480"/>
            <a:ext cx="3108960" cy="82296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224528" y="5212080"/>
            <a:ext cx="182880" cy="182880"/>
          </a:xfrm>
          <a:prstGeom prst="roundRect">
            <a:avLst>
              <a:gd name="adj" fmla="val 20000"/>
            </a:avLst>
          </a:prstGeom>
          <a:noFill/>
          <a:ln w="20320">
            <a:solidFill>
              <a:srgbClr val="1F9D5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6280" y="51297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Телефоны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40410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4B5160"/>
                </a:solidFill>
                <a:latin typeface="Segoe UI"/>
              </a:rPr>
              <a:t>учебный центр, кадры, общежитие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640" y="3063240"/>
            <a:ext cx="4023360" cy="2651760"/>
          </a:xfrm>
          <a:prstGeom prst="roundRect">
            <a:avLst>
              <a:gd name="adj" fmla="val 7000"/>
            </a:avLst>
          </a:prstGeom>
          <a:solidFill>
            <a:srgbClr val="12141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26679" y="3291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ЭФФЕКТ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36576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−10 п.п.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526280"/>
            <a:ext cx="3383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D8DAE0"/>
                </a:solidFill>
                <a:latin typeface="Segoe UI"/>
              </a:rPr>
              <a:t>цель по отсеву на испытательном: с 38% до 28% за счёт подготовленного первого дня и живого контакта с наставником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ЭФФЕКТ И АНАЛИТИКА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6949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2141A"/>
                </a:solidFill>
                <a:latin typeface="Segoe UI"/>
              </a:rPr>
              <a:t>701 ₽ за заявку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2141A"/>
                </a:solidFill>
                <a:latin typeface="Segoe UI"/>
              </a:rPr>
              <a:t>вместо 3 000 ₽ на job-сайте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594360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ED1941"/>
                </a:solidFill>
                <a:latin typeface="Segoe UI"/>
              </a:rPr>
              <a:t>— </a:t>
            </a:r>
            <a:r>
              <a:rPr sz="1200" b="0">
                <a:solidFill>
                  <a:srgbClr val="4B5160"/>
                </a:solidFill>
                <a:latin typeface="Segoe UI"/>
              </a:rPr>
              <a:t>воронка пилота на 6 недель: 48 000 показов → 6 240 стартов → 214 заявок → 96 приглашений → 41 найм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ED1941"/>
                </a:solidFill>
                <a:latin typeface="Segoe UI"/>
              </a:rPr>
              <a:t>— </a:t>
            </a:r>
            <a:r>
              <a:rPr sz="1200" b="0">
                <a:solidFill>
                  <a:srgbClr val="4B5160"/>
                </a:solidFill>
                <a:latin typeface="Segoe UI"/>
              </a:rPr>
              <a:t>все события размечены по каналам: QR в вузах, чаты, VK-реклама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ED1941"/>
                </a:solidFill>
                <a:latin typeface="Segoe UI"/>
              </a:rPr>
              <a:t>— </a:t>
            </a:r>
            <a:r>
              <a:rPr sz="1200" b="0">
                <a:solidFill>
                  <a:srgbClr val="4B5160"/>
                </a:solidFill>
                <a:latin typeface="Segoe UI"/>
              </a:rPr>
              <a:t>HR видит, какой трек и вуз дают заявки, и куда уходит бюджет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2194560" cy="137160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4361688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D1941"/>
                </a:solidFill>
                <a:latin typeface="Segoe U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5029200"/>
            <a:ext cx="173736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найм за 6 недель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пилота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4160520"/>
            <a:ext cx="2194560" cy="137160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273552" y="4361688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D1941"/>
                </a:solidFill>
                <a:latin typeface="Segoe UI"/>
              </a:rPr>
              <a:t>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3552" y="5029200"/>
            <a:ext cx="173736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квиз → заявка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4160520"/>
            <a:ext cx="2194560" cy="1371600"/>
          </a:xfrm>
          <a:prstGeom prst="roundRect">
            <a:avLst>
              <a:gd name="adj" fmla="val 12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05272" y="4361688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D1941"/>
                </a:solidFill>
                <a:latin typeface="Segoe UI"/>
              </a:rPr>
              <a:t>150 000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5272" y="5029200"/>
            <a:ext cx="173736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бюджет пилота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на каналы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A8F9C"/>
                </a:solidFill>
                <a:latin typeface="Segoe UI"/>
              </a:rPr>
              <a:t>Масштаб: головной офис, 3 вуза-партнёра. Дальше — тираж на 10 производств и на все сезонные пики.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475488"/>
            <a:ext cx="2967881" cy="5907024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6" name="Picture 15" descr="s-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48640"/>
            <a:ext cx="2821577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HR-БРЕНД · ВИЗУАЛЬНАЯ СИСТЕМА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7772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Смена как бренд, а не как акция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486400" cy="23774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Слоган: </a:t>
            </a:r>
            <a:r>
              <a:rPr sz="1150">
                <a:solidFill>
                  <a:srgbClr val="4B5160"/>
                </a:solidFill>
                <a:latin typeface="Segoe UI"/>
              </a:rPr>
              <a:t>«Твой первый вкус» — про работу, которая начинается со вкуса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Тон: </a:t>
            </a:r>
            <a:r>
              <a:rPr sz="1150">
                <a:solidFill>
                  <a:srgbClr val="4B5160"/>
                </a:solidFill>
                <a:latin typeface="Segoe UI"/>
              </a:rPr>
              <a:t>честный цех вместо глянца: смены, оборудование, люди, зарплата без звёздочек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Визуал: </a:t>
            </a:r>
            <a:r>
              <a:rPr sz="1150">
                <a:solidFill>
                  <a:srgbClr val="4B5160"/>
                </a:solidFill>
                <a:latin typeface="Segoe UI"/>
              </a:rPr>
              <a:t>брендбук «Очаково» — красный #ED1941, паттерн, пиктограммы, крупная типографика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Ранги: </a:t>
            </a:r>
            <a:r>
              <a:rPr sz="1150">
                <a:solidFill>
                  <a:srgbClr val="4B5160"/>
                </a:solidFill>
                <a:latin typeface="Segoe UI"/>
              </a:rPr>
              <a:t>Стажёр → Сменщик → Мастер смены → Легенда смены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343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ED1941"/>
                </a:solidFill>
                <a:latin typeface="Segoe UI"/>
              </a:rPr>
              <a:t>МЕРЧ И МАТЕРИАЛЫ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4709160"/>
            <a:ext cx="26060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4864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2141A"/>
                </a:solidFill>
                <a:latin typeface="Segoe UI"/>
              </a:rPr>
              <a:t>Шоппер с паттерном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709160"/>
            <a:ext cx="26060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0" y="4864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2141A"/>
                </a:solidFill>
                <a:latin typeface="Segoe UI"/>
              </a:rPr>
              <a:t>Кружка «Смена»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367528"/>
            <a:ext cx="26060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55229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2141A"/>
                </a:solidFill>
                <a:latin typeface="Segoe UI"/>
              </a:rPr>
              <a:t>Стикерпак пиктограмм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5367528"/>
            <a:ext cx="26060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57600" y="55229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2141A"/>
                </a:solidFill>
                <a:latin typeface="Segoe UI"/>
              </a:rPr>
              <a:t>Значок с треком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103120"/>
            <a:ext cx="4937760" cy="1417320"/>
          </a:xfrm>
          <a:prstGeom prst="roundRect">
            <a:avLst>
              <a:gd name="adj" fmla="val 10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ED1941"/>
                </a:solidFill>
                <a:latin typeface="Segoe UI"/>
              </a:rPr>
              <a:t>МАСКОТ-НАСТАВНИК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606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2141A"/>
                </a:solidFill>
                <a:latin typeface="Segoe UI"/>
              </a:rPr>
              <a:t>Медвежонок «Квасик»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999232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4B5160"/>
                </a:solidFill>
                <a:latin typeface="Segoe UI"/>
              </a:rPr>
              <a:t>Отсылка к олимпийскому мишке 1980 года: комбинат начинался с Игр. Ведёт игрока по сменам и пишет после заявки.</a:t>
            </a:r>
          </a:p>
        </p:txBody>
      </p:sp>
      <p:pic>
        <p:nvPicPr>
          <p:cNvPr id="18" name="Picture 17" descr="pictogra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749039"/>
            <a:ext cx="3106720" cy="18745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92240" y="5806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8F9C"/>
                </a:solidFill>
                <a:latin typeface="Segoe UI"/>
              </a:rPr>
              <a:t>Пиктограммы брендбука — готовый набор для мерча и навигации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60533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1">
                <a:solidFill>
                  <a:srgbClr val="8A8F9C"/>
                </a:solidFill>
                <a:latin typeface="Segoe UI"/>
              </a:rPr>
              <a:t>Маскот и мерч — на согласование с бренд-отделом (условие кейса)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КАНАЛЫ И ВИРУСНАЯ ПЕТЛЯ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Один сильный участник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поднимает весь вуз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6035040" cy="25603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QR в вузах и общежитии: </a:t>
            </a:r>
            <a:r>
              <a:rPr sz="1150">
                <a:solidFill>
                  <a:srgbClr val="4B5160"/>
                </a:solidFill>
                <a:latin typeface="Segoe UI"/>
              </a:rPr>
              <a:t>листовка и стикер ведут сразу в нужную смену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чаты и старосты: </a:t>
            </a:r>
            <a:r>
              <a:rPr sz="1150">
                <a:solidFill>
                  <a:srgbClr val="4B5160"/>
                </a:solidFill>
                <a:latin typeface="Segoe UI"/>
              </a:rPr>
              <a:t>готовый пост и карточка результата для пересылки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VK Мини-апп: </a:t>
            </a:r>
            <a:r>
              <a:rPr sz="1150">
                <a:solidFill>
                  <a:srgbClr val="4B5160"/>
                </a:solidFill>
                <a:latin typeface="Segoe UI"/>
              </a:rPr>
              <a:t>нативная виральность, шаринг, сторис, лидерборд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ED1941"/>
                </a:solidFill>
                <a:latin typeface="Segoe UI"/>
              </a:rPr>
              <a:t>— </a:t>
            </a:r>
            <a:r>
              <a:rPr sz="1150" b="1">
                <a:solidFill>
                  <a:srgbClr val="12141A"/>
                </a:solidFill>
                <a:latin typeface="Segoe UI"/>
              </a:rPr>
              <a:t>экскурсии и ярмарки: </a:t>
            </a:r>
            <a:r>
              <a:rPr sz="1150">
                <a:solidFill>
                  <a:srgbClr val="4B5160"/>
                </a:solidFill>
                <a:latin typeface="Segoe UI"/>
              </a:rPr>
              <a:t>игра как активность на стенде вместо раздачи листовок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21208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12141A"/>
                </a:solidFill>
                <a:latin typeface="Segoe UI"/>
              </a:rPr>
              <a:t>Петля: прошёл смены → получил вкус → поделился карточкой → друг открыл игру. Рейтинг вузов даёт командную мотивацию, а не разовую акцию.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56448" y="658368"/>
            <a:ext cx="2833520" cy="5632704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E6E5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s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731520"/>
            <a:ext cx="292608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ВНЕДРЕНИЕ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Что нужно, чтобы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200" b="1" i="0">
                <a:solidFill>
                  <a:srgbClr val="12141A"/>
                </a:solidFill>
                <a:latin typeface="Segoe UI"/>
              </a:rPr>
              <a:t>запустить за 6 недель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ED1941"/>
                </a:solidFill>
                <a:latin typeface="Segoe UI"/>
              </a:rPr>
              <a:t>0–2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2141A"/>
                </a:solidFill>
                <a:latin typeface="Segoe UI"/>
              </a:rPr>
              <a:t>Пилот на 3 вузах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2971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4B5160"/>
                </a:solidFill>
                <a:latin typeface="Segoe UI"/>
              </a:rPr>
              <a:t>перенос прототипа в ВК Мини-апп, согласование текстов и вакансий, QR-материалы, обучение наставников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4884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4880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ED1941"/>
                </a:solidFill>
                <a:latin typeface="Segoe UI"/>
              </a:rPr>
              <a:t>1–2 МЕСЯЦА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517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2141A"/>
                </a:solidFill>
                <a:latin typeface="Segoe UI"/>
              </a:rPr>
              <a:t>Пилот и замер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54680"/>
            <a:ext cx="2971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4B5160"/>
                </a:solidFill>
                <a:latin typeface="Segoe UI"/>
              </a:rPr>
              <a:t>6 недель трафика, A/B обложек, замер CPL и отсева, правки по итогам интервью с участниками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214884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49640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ED1941"/>
                </a:solidFill>
                <a:latin typeface="Segoe UI"/>
              </a:rPr>
              <a:t>3–6 МЕСЯЦЕВ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65176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2141A"/>
                </a:solidFill>
                <a:latin typeface="Segoe UI"/>
              </a:rPr>
              <a:t>Тираж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154680"/>
            <a:ext cx="2971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4B5160"/>
                </a:solidFill>
                <a:latin typeface="Segoe UI"/>
              </a:rPr>
              <a:t>тираж на производства и сезонные пики, интеграция с Битрикс24/HRM, дашборд для HR, листовки и мерч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98348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ED1941"/>
                </a:solidFill>
                <a:latin typeface="Segoe UI"/>
              </a:rPr>
              <a:t>ЧТО НУЖНО ОТ «ОЧАКОВО»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4924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4B5160"/>
                </a:solidFill>
                <a:latin typeface="Segoe UI"/>
              </a:rPr>
              <a:t>· доступ к вакансиям и вилкам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534924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4B5160"/>
                </a:solidFill>
                <a:latin typeface="Segoe UI"/>
              </a:rPr>
              <a:t>· наставники от цехов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34924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4B5160"/>
                </a:solidFill>
                <a:latin typeface="Segoe UI"/>
              </a:rPr>
              <a:t>· согласование бренда и мерча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34924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4B5160"/>
                </a:solidFill>
                <a:latin typeface="Segoe UI"/>
              </a:rPr>
              <a:t>· бюджет 150 тыс. ₽ на пилот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СООТВЕТСТВИЕ КРИТЕРИЯМ ЖЮРИ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2141A"/>
                </a:solidFill>
                <a:latin typeface="Segoe UI"/>
              </a:rPr>
              <a:t>Отвечаем на каждый пункт оценки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1305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Прототип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130552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работает офлайн: 13 экранов, 5 механик, заявка и выгрузка 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587752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275234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Основная проблема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752344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системное продвижение HR-бренда вместо точечных ярмарок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33741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Разработка и внедрение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374136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701 ₽ за заявку, пилот 6 недель, тираж на 10 производств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31336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Новаторские идеи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95928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лаборатория вкуса + карточка в соцсетях + рейтинг вузов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53128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UI/UX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617720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мобильный формат, 6 смен по 40–90 секунд, крупная типографика бренда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74920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2395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Вторичные проблемы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239512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пре-бординг против 38% отсева, сезонный пайплайн, омоложение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696712"/>
            <a:ext cx="10881360" cy="566928"/>
          </a:xfrm>
          <a:prstGeom prst="roundRect">
            <a:avLst>
              <a:gd name="adj" fmla="val 18000"/>
            </a:avLst>
          </a:prstGeom>
          <a:solidFill>
            <a:srgbClr val="F5F3E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" y="5861303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2141A"/>
                </a:solidFill>
                <a:latin typeface="Segoe UI"/>
              </a:rPr>
              <a:t>Аналитика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861303"/>
            <a:ext cx="740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B5160"/>
                </a:solidFill>
                <a:latin typeface="Segoe UI"/>
              </a:rPr>
              <a:t>воронка, CPL, распределение по трекам, выгрузка заявок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1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ED1941"/>
                </a:solidFill>
                <a:latin typeface="Segoe UI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СМЕНА ждёт в «Очаково»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D8DAE0"/>
                </a:solidFill>
                <a:latin typeface="Segoe UI"/>
              </a:rPr>
              <a:t>Прототип, README и презентация — в личном кабинете участника.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D8DAE0"/>
                </a:solidFill>
                <a:latin typeface="Segoe UI"/>
              </a:rPr>
              <a:t>Открывается двойным щелчком по index.html, без интернета и установки.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8620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1E212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97280" y="4069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ED1941"/>
                </a:solidFill>
                <a:latin typeface="Segoe UI"/>
              </a:rPr>
              <a:t>ДЕМО ЗА 2 МИНУТЫ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index.html — чистый старт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index.html?demo=1#s-hr — панель HR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index.html?demo=1#s-flavor — лаборатория вкуса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319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ED1941"/>
                </a:solidFill>
                <a:latin typeface="Segoe UI"/>
              </a:rPr>
              <a:t>КОНТАКТЫ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5196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 i="0">
                <a:solidFill>
                  <a:srgbClr val="C9CCD4"/>
                </a:solidFill>
                <a:latin typeface="Segoe UI"/>
              </a:rPr>
              <a:t>Служба заботы хакатона: vk.me/hack_mosprom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 i="0">
                <a:solidFill>
                  <a:srgbClr val="C9CCD4"/>
                </a:solidFill>
                <a:latin typeface="Segoe UI"/>
              </a:rPr>
              <a:t>hackathon@otkroimosoprom.ru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806440"/>
            <a:ext cx="2011680" cy="54864"/>
          </a:xfrm>
          <a:prstGeom prst="rect">
            <a:avLst/>
          </a:prstGeom>
          <a:solidFill>
            <a:srgbClr val="ED194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8A8F9C"/>
                </a:solidFill>
                <a:latin typeface="Segoe UI"/>
              </a:rPr>
              <a:t>Кейс «Очаково» · хакатон «Открой Моспром» · 23–25 октября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